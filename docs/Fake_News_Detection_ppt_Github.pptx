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 id="2147483728" r:id="rId5"/>
  </p:sldMasterIdLst>
  <p:notesMasterIdLst>
    <p:notesMasterId r:id="rId18"/>
  </p:notesMasterIdLst>
  <p:sldIdLst>
    <p:sldId id="292" r:id="rId6"/>
    <p:sldId id="257" r:id="rId7"/>
    <p:sldId id="343" r:id="rId8"/>
    <p:sldId id="344" r:id="rId9"/>
    <p:sldId id="345" r:id="rId10"/>
    <p:sldId id="346" r:id="rId11"/>
    <p:sldId id="347" r:id="rId12"/>
    <p:sldId id="348" r:id="rId13"/>
    <p:sldId id="351" r:id="rId14"/>
    <p:sldId id="349" r:id="rId15"/>
    <p:sldId id="350" r:id="rId16"/>
    <p:sldId id="342"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guide id="4" pos="5976"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5DD"/>
    <a:srgbClr val="EF8600"/>
    <a:srgbClr val="7030A0"/>
    <a:srgbClr val="841910"/>
    <a:srgbClr val="002060"/>
    <a:srgbClr val="ABC7FF"/>
    <a:srgbClr val="E9EFFB"/>
    <a:srgbClr val="142F68"/>
    <a:srgbClr val="213163"/>
    <a:srgbClr val="CB00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71" d="100"/>
          <a:sy n="71" d="100"/>
        </p:scale>
        <p:origin x="1109" y="43"/>
      </p:cViewPr>
      <p:guideLst>
        <p:guide orient="horz" pos="792"/>
        <p:guide pos="192"/>
        <p:guide orient="horz" pos="1080"/>
        <p:guide pos="5976"/>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20" Type="http://customschemas.google.com/relationships/presentationmetadata" Target="metadata"/><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dirty="0">
              <a:latin typeface="Calibri"/>
              <a:cs typeface="Calibri"/>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9441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86466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0625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a:lnSpc>
                <a:spcPct val="100000"/>
              </a:lnSpc>
              <a:tabLst>
                <a:tab pos="0" algn="l"/>
              </a:tabLst>
            </a:pPr>
            <a:endParaRPr lang="en-US" sz="2000" b="0" strike="noStrike" spc="-1">
              <a:latin typeface="Arial"/>
            </a:endParaRP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12</a:t>
            </a:fld>
            <a:endParaRPr lang="en-US" sz="1200" b="0" strike="noStrike" spc="-1">
              <a:latin typeface="Times New Roman"/>
            </a:endParaRPr>
          </a:p>
        </p:txBody>
      </p:sp>
    </p:spTree>
    <p:extLst>
      <p:ext uri="{BB962C8B-B14F-4D97-AF65-F5344CB8AC3E}">
        <p14:creationId xmlns:p14="http://schemas.microsoft.com/office/powerpoint/2010/main" val="135314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609570" lvl="0" indent="-423312" algn="l">
              <a:lnSpc>
                <a:spcPct val="115000"/>
              </a:lnSpc>
              <a:spcBef>
                <a:spcPts val="0"/>
              </a:spcBef>
              <a:spcAft>
                <a:spcPts val="0"/>
              </a:spcAft>
              <a:buSzPts val="1400"/>
              <a:buChar char="●"/>
              <a:defRPr sz="1867"/>
            </a:lvl1pPr>
            <a:lvl2pPr marL="1219140" lvl="1" indent="-406381" algn="l">
              <a:lnSpc>
                <a:spcPct val="115000"/>
              </a:lnSpc>
              <a:spcBef>
                <a:spcPts val="2133"/>
              </a:spcBef>
              <a:spcAft>
                <a:spcPts val="0"/>
              </a:spcAft>
              <a:buSzPts val="1200"/>
              <a:buChar char="○"/>
              <a:defRPr sz="1600"/>
            </a:lvl2pPr>
            <a:lvl3pPr marL="1828709" lvl="2" indent="-406381" algn="l">
              <a:lnSpc>
                <a:spcPct val="115000"/>
              </a:lnSpc>
              <a:spcBef>
                <a:spcPts val="2133"/>
              </a:spcBef>
              <a:spcAft>
                <a:spcPts val="0"/>
              </a:spcAft>
              <a:buSzPts val="1200"/>
              <a:buChar char="■"/>
              <a:defRPr sz="1600"/>
            </a:lvl3pPr>
            <a:lvl4pPr marL="2438278" lvl="3" indent="-406381" algn="l">
              <a:lnSpc>
                <a:spcPct val="115000"/>
              </a:lnSpc>
              <a:spcBef>
                <a:spcPts val="2133"/>
              </a:spcBef>
              <a:spcAft>
                <a:spcPts val="0"/>
              </a:spcAft>
              <a:buSzPts val="1200"/>
              <a:buChar char="●"/>
              <a:defRPr sz="1600"/>
            </a:lvl4pPr>
            <a:lvl5pPr marL="3047848" lvl="4" indent="-406381" algn="l">
              <a:lnSpc>
                <a:spcPct val="115000"/>
              </a:lnSpc>
              <a:spcBef>
                <a:spcPts val="2133"/>
              </a:spcBef>
              <a:spcAft>
                <a:spcPts val="0"/>
              </a:spcAft>
              <a:buSzPts val="1200"/>
              <a:buChar char="○"/>
              <a:defRPr sz="1600"/>
            </a:lvl5pPr>
            <a:lvl6pPr marL="3657418" lvl="5" indent="-406381" algn="l">
              <a:lnSpc>
                <a:spcPct val="115000"/>
              </a:lnSpc>
              <a:spcBef>
                <a:spcPts val="2133"/>
              </a:spcBef>
              <a:spcAft>
                <a:spcPts val="0"/>
              </a:spcAft>
              <a:buSzPts val="1200"/>
              <a:buChar char="■"/>
              <a:defRPr sz="1600"/>
            </a:lvl6pPr>
            <a:lvl7pPr marL="4266987" lvl="6" indent="-406381" algn="l">
              <a:lnSpc>
                <a:spcPct val="115000"/>
              </a:lnSpc>
              <a:spcBef>
                <a:spcPts val="2133"/>
              </a:spcBef>
              <a:spcAft>
                <a:spcPts val="0"/>
              </a:spcAft>
              <a:buSzPts val="1200"/>
              <a:buChar char="●"/>
              <a:defRPr sz="1600"/>
            </a:lvl7pPr>
            <a:lvl8pPr marL="4876557" lvl="7" indent="-406381" algn="l">
              <a:lnSpc>
                <a:spcPct val="115000"/>
              </a:lnSpc>
              <a:spcBef>
                <a:spcPts val="2133"/>
              </a:spcBef>
              <a:spcAft>
                <a:spcPts val="0"/>
              </a:spcAft>
              <a:buSzPts val="1200"/>
              <a:buChar char="○"/>
              <a:defRPr sz="1600"/>
            </a:lvl8pPr>
            <a:lvl9pPr marL="5486126" lvl="8" indent="-406381" algn="l">
              <a:lnSpc>
                <a:spcPct val="115000"/>
              </a:lnSpc>
              <a:spcBef>
                <a:spcPts val="2133"/>
              </a:spcBef>
              <a:spcAft>
                <a:spcPts val="2133"/>
              </a:spcAft>
              <a:buSzPts val="1200"/>
              <a:buChar char="■"/>
              <a:defRPr sz="1600"/>
            </a:lvl9pPr>
          </a:lstStyle>
          <a:p>
            <a:endParaRPr/>
          </a:p>
        </p:txBody>
      </p:sp>
      <p:sp>
        <p:nvSpPr>
          <p:cNvPr id="23" name="Google Shape;23;p28"/>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609570" lvl="0" indent="-423312" algn="l">
              <a:lnSpc>
                <a:spcPct val="115000"/>
              </a:lnSpc>
              <a:spcBef>
                <a:spcPts val="0"/>
              </a:spcBef>
              <a:spcAft>
                <a:spcPts val="0"/>
              </a:spcAft>
              <a:buSzPts val="1400"/>
              <a:buChar char="●"/>
              <a:defRPr sz="1867"/>
            </a:lvl1pPr>
            <a:lvl2pPr marL="1219140" lvl="1" indent="-406381" algn="l">
              <a:lnSpc>
                <a:spcPct val="115000"/>
              </a:lnSpc>
              <a:spcBef>
                <a:spcPts val="2133"/>
              </a:spcBef>
              <a:spcAft>
                <a:spcPts val="0"/>
              </a:spcAft>
              <a:buSzPts val="1200"/>
              <a:buChar char="○"/>
              <a:defRPr sz="1600"/>
            </a:lvl2pPr>
            <a:lvl3pPr marL="1828709" lvl="2" indent="-406381" algn="l">
              <a:lnSpc>
                <a:spcPct val="115000"/>
              </a:lnSpc>
              <a:spcBef>
                <a:spcPts val="2133"/>
              </a:spcBef>
              <a:spcAft>
                <a:spcPts val="0"/>
              </a:spcAft>
              <a:buSzPts val="1200"/>
              <a:buChar char="■"/>
              <a:defRPr sz="1600"/>
            </a:lvl3pPr>
            <a:lvl4pPr marL="2438278" lvl="3" indent="-406381" algn="l">
              <a:lnSpc>
                <a:spcPct val="115000"/>
              </a:lnSpc>
              <a:spcBef>
                <a:spcPts val="2133"/>
              </a:spcBef>
              <a:spcAft>
                <a:spcPts val="0"/>
              </a:spcAft>
              <a:buSzPts val="1200"/>
              <a:buChar char="●"/>
              <a:defRPr sz="1600"/>
            </a:lvl4pPr>
            <a:lvl5pPr marL="3047848" lvl="4" indent="-406381" algn="l">
              <a:lnSpc>
                <a:spcPct val="115000"/>
              </a:lnSpc>
              <a:spcBef>
                <a:spcPts val="2133"/>
              </a:spcBef>
              <a:spcAft>
                <a:spcPts val="0"/>
              </a:spcAft>
              <a:buSzPts val="1200"/>
              <a:buChar char="○"/>
              <a:defRPr sz="1600"/>
            </a:lvl5pPr>
            <a:lvl6pPr marL="3657418" lvl="5" indent="-406381" algn="l">
              <a:lnSpc>
                <a:spcPct val="115000"/>
              </a:lnSpc>
              <a:spcBef>
                <a:spcPts val="2133"/>
              </a:spcBef>
              <a:spcAft>
                <a:spcPts val="0"/>
              </a:spcAft>
              <a:buSzPts val="1200"/>
              <a:buChar char="■"/>
              <a:defRPr sz="1600"/>
            </a:lvl6pPr>
            <a:lvl7pPr marL="4266987" lvl="6" indent="-406381" algn="l">
              <a:lnSpc>
                <a:spcPct val="115000"/>
              </a:lnSpc>
              <a:spcBef>
                <a:spcPts val="2133"/>
              </a:spcBef>
              <a:spcAft>
                <a:spcPts val="0"/>
              </a:spcAft>
              <a:buSzPts val="1200"/>
              <a:buChar char="●"/>
              <a:defRPr sz="1600"/>
            </a:lvl7pPr>
            <a:lvl8pPr marL="4876557" lvl="7" indent="-406381" algn="l">
              <a:lnSpc>
                <a:spcPct val="115000"/>
              </a:lnSpc>
              <a:spcBef>
                <a:spcPts val="2133"/>
              </a:spcBef>
              <a:spcAft>
                <a:spcPts val="0"/>
              </a:spcAft>
              <a:buSzPts val="1200"/>
              <a:buChar char="○"/>
              <a:defRPr sz="1600"/>
            </a:lvl8pPr>
            <a:lvl9pPr marL="5486126" lvl="8" indent="-406381" algn="l">
              <a:lnSpc>
                <a:spcPct val="115000"/>
              </a:lnSpc>
              <a:spcBef>
                <a:spcPts val="2133"/>
              </a:spcBef>
              <a:spcAft>
                <a:spcPts val="2133"/>
              </a:spcAft>
              <a:buSzPts val="1200"/>
              <a:buChar char="■"/>
              <a:defRPr sz="1600"/>
            </a:lvl9pPr>
          </a:lstStyle>
          <a:p>
            <a:endParaRPr/>
          </a:p>
        </p:txBody>
      </p:sp>
      <p:sp>
        <p:nvSpPr>
          <p:cNvPr id="24" name="Google Shape;24;p2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63563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740720" y="623847"/>
            <a:ext cx="11360800" cy="763600"/>
          </a:xfrm>
          <a:prstGeom prst="rect">
            <a:avLst/>
          </a:prstGeom>
          <a:noFill/>
          <a:ln>
            <a:noFill/>
          </a:ln>
        </p:spPr>
        <p:txBody>
          <a:bodyPr spcFirstLastPara="1" wrap="square" lIns="91425" tIns="91425" rIns="91425" bIns="91425" anchor="t" anchorCtr="0">
            <a:noAutofit/>
          </a:bodyPr>
          <a:lstStyle>
            <a:lvl1pPr>
              <a:defRPr sz="2133" b="1" dirty="0">
                <a:solidFill>
                  <a:srgbClr val="213163"/>
                </a:solidFill>
              </a:defRPr>
            </a:lvl1pPr>
          </a:lstStyle>
          <a:p>
            <a:pPr lvl="0">
              <a:buSzPts val="2800"/>
            </a:pPr>
            <a:endParaRPr dirty="0"/>
          </a:p>
        </p:txBody>
      </p:sp>
      <p:sp>
        <p:nvSpPr>
          <p:cNvPr id="27" name="Google Shape;27;p2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78508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140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87564A-B8B7-DAEE-FA1B-E3912BA0ECDE}"/>
              </a:ext>
            </a:extLst>
          </p:cNvPr>
          <p:cNvPicPr>
            <a:picLocks noChangeAspect="1"/>
          </p:cNvPicPr>
          <p:nvPr userDrawn="1"/>
        </p:nvPicPr>
        <p:blipFill rotWithShape="1">
          <a:blip r:embed="rId2"/>
          <a:srcRect t="37520"/>
          <a:stretch/>
        </p:blipFill>
        <p:spPr>
          <a:xfrm>
            <a:off x="1" y="6731000"/>
            <a:ext cx="12198350" cy="126893"/>
          </a:xfrm>
          <a:prstGeom prst="rect">
            <a:avLst/>
          </a:prstGeom>
        </p:spPr>
      </p:pic>
    </p:spTree>
    <p:extLst>
      <p:ext uri="{BB962C8B-B14F-4D97-AF65-F5344CB8AC3E}">
        <p14:creationId xmlns:p14="http://schemas.microsoft.com/office/powerpoint/2010/main" val="850480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766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preserve="1"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064965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4120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jp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4.jpe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171450"/>
          </a:xfrm>
          <a:prstGeom prst="rect">
            <a:avLst/>
          </a:prstGeom>
          <a:solidFill>
            <a:srgbClr val="FFC509"/>
          </a:solidFill>
          <a:ln>
            <a:solidFill>
              <a:srgbClr val="FFC5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5">
            <a:alphaModFix amt="16000"/>
          </a:blip>
          <a:srcRect t="24724" r="1619" b="72228"/>
          <a:stretch/>
        </p:blipFill>
        <p:spPr>
          <a:xfrm>
            <a:off x="0" y="-1"/>
            <a:ext cx="9839325" cy="190501"/>
          </a:xfrm>
          <a:prstGeom prst="rect">
            <a:avLst/>
          </a:prstGeom>
        </p:spPr>
      </p:pic>
      <p:sp>
        <p:nvSpPr>
          <p:cNvPr id="3" name="Rectangle 2">
            <a:extLst>
              <a:ext uri="{FF2B5EF4-FFF2-40B4-BE49-F238E27FC236}">
                <a16:creationId xmlns:a16="http://schemas.microsoft.com/office/drawing/2014/main" id="{0F6950E6-E837-2B31-CE12-C41D7CBE4E6E}"/>
              </a:ext>
            </a:extLst>
          </p:cNvPr>
          <p:cNvSpPr/>
          <p:nvPr userDrawn="1"/>
        </p:nvSpPr>
        <p:spPr>
          <a:xfrm>
            <a:off x="1" y="6686550"/>
            <a:ext cx="9829800" cy="171450"/>
          </a:xfrm>
          <a:prstGeom prst="rect">
            <a:avLst/>
          </a:prstGeom>
          <a:solidFill>
            <a:srgbClr val="FFC509"/>
          </a:solidFill>
          <a:ln>
            <a:solidFill>
              <a:srgbClr val="FFC5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blue and white background&#10;&#10;Description automatically generated with medium confidence">
            <a:extLst>
              <a:ext uri="{FF2B5EF4-FFF2-40B4-BE49-F238E27FC236}">
                <a16:creationId xmlns:a16="http://schemas.microsoft.com/office/drawing/2014/main" id="{EDE84A7A-83E3-0156-1AED-8E78D59C81B8}"/>
              </a:ext>
            </a:extLst>
          </p:cNvPr>
          <p:cNvPicPr>
            <a:picLocks noChangeAspect="1"/>
          </p:cNvPicPr>
          <p:nvPr userDrawn="1"/>
        </p:nvPicPr>
        <p:blipFill rotWithShape="1">
          <a:blip r:embed="rId5">
            <a:alphaModFix amt="16000"/>
          </a:blip>
          <a:srcRect t="24724" r="1619" b="72228"/>
          <a:stretch/>
        </p:blipFill>
        <p:spPr>
          <a:xfrm>
            <a:off x="0" y="6686549"/>
            <a:ext cx="9839325" cy="190501"/>
          </a:xfrm>
          <a:prstGeom prst="rect">
            <a:avLst/>
          </a:prstGeom>
        </p:spPr>
      </p:pic>
      <p:pic>
        <p:nvPicPr>
          <p:cNvPr id="7" name="Picture 6" descr="A white background with squares&#10;&#10;Description automatically generated">
            <a:extLst>
              <a:ext uri="{FF2B5EF4-FFF2-40B4-BE49-F238E27FC236}">
                <a16:creationId xmlns:a16="http://schemas.microsoft.com/office/drawing/2014/main" id="{8CE44693-6302-65AF-33DF-DBA62941EA37}"/>
              </a:ext>
            </a:extLst>
          </p:cNvPr>
          <p:cNvPicPr>
            <a:picLocks noChangeAspect="1"/>
          </p:cNvPicPr>
          <p:nvPr userDrawn="1"/>
        </p:nvPicPr>
        <p:blipFill rotWithShape="1">
          <a:blip r:embed="rId6">
            <a:alphaModFix amt="34000"/>
          </a:blip>
          <a:srcRect t="2434" b="18153"/>
          <a:stretch/>
        </p:blipFill>
        <p:spPr>
          <a:xfrm>
            <a:off x="3370" y="198120"/>
            <a:ext cx="12205503" cy="6461760"/>
          </a:xfrm>
          <a:prstGeom prst="rect">
            <a:avLst/>
          </a:prstGeom>
        </p:spPr>
      </p:pic>
    </p:spTree>
  </p:cSld>
  <p:clrMap bg1="lt1" tx1="dk1" bg2="dk2" tx2="lt2" accent1="accent1" accent2="accent2" accent3="accent3" accent4="accent4" accent5="accent5" accent6="accent6" hlink="hlink" folHlink="folHlink"/>
  <p:sldLayoutIdLst>
    <p:sldLayoutId id="2147483733" r:id="rId1"/>
    <p:sldLayoutId id="2147483734" r:id="rId2"/>
    <p:sldLayoutId id="214748373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6">
            <a:alphaModFix/>
          </a:blip>
          <a:srcRect/>
          <a:stretch/>
        </p:blipFill>
        <p:spPr>
          <a:xfrm>
            <a:off x="10063163" y="87527"/>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0" y="0"/>
            <a:ext cx="10032999"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FC5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Blue Abstract Vector Art, Icons, and Graphics for Free Download">
            <a:extLst>
              <a:ext uri="{FF2B5EF4-FFF2-40B4-BE49-F238E27FC236}">
                <a16:creationId xmlns:a16="http://schemas.microsoft.com/office/drawing/2014/main" id="{A7AD923B-51D8-2E76-52BE-CED92FDEB26B}"/>
              </a:ext>
            </a:extLst>
          </p:cNvPr>
          <p:cNvPicPr>
            <a:picLocks noChangeAspect="1" noChangeArrowheads="1"/>
          </p:cNvPicPr>
          <p:nvPr userDrawn="1"/>
        </p:nvPicPr>
        <p:blipFill rotWithShape="1">
          <a:blip r:embed="rId7">
            <a:alphaModFix amt="38000"/>
            <a:extLst>
              <a:ext uri="{28A0092B-C50C-407E-A947-70E740481C1C}">
                <a14:useLocalDpi xmlns:a14="http://schemas.microsoft.com/office/drawing/2010/main" val="0"/>
              </a:ext>
            </a:extLst>
          </a:blip>
          <a:srcRect t="30561" r="8164" b="59005"/>
          <a:stretch/>
        </p:blipFill>
        <p:spPr bwMode="auto">
          <a:xfrm>
            <a:off x="-9525" y="1"/>
            <a:ext cx="10055225" cy="715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480839"/>
      </p:ext>
    </p:extLst>
  </p:cSld>
  <p:clrMap bg1="lt1" tx1="dk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07EE478-C686-BEE8-D55A-706CA7E7474C}"/>
              </a:ext>
            </a:extLst>
          </p:cNvPr>
          <p:cNvPicPr>
            <a:picLocks noChangeAspect="1"/>
          </p:cNvPicPr>
          <p:nvPr/>
        </p:nvPicPr>
        <p:blipFill>
          <a:blip r:embed="rId3"/>
          <a:srcRect l="5562" r="5562"/>
          <a:stretch/>
        </p:blipFill>
        <p:spPr>
          <a:xfrm>
            <a:off x="1901" y="0"/>
            <a:ext cx="12190099" cy="6858000"/>
          </a:xfrm>
          <a:prstGeom prst="rect">
            <a:avLst/>
          </a:prstGeom>
        </p:spPr>
      </p:pic>
      <p:sp>
        <p:nvSpPr>
          <p:cNvPr id="10" name="TextShape 1">
            <a:extLst>
              <a:ext uri="{FF2B5EF4-FFF2-40B4-BE49-F238E27FC236}">
                <a16:creationId xmlns:a16="http://schemas.microsoft.com/office/drawing/2014/main" id="{813F2107-8C2D-9CA4-CD8E-ECCCD7EBECC8}"/>
              </a:ext>
            </a:extLst>
          </p:cNvPr>
          <p:cNvSpPr txBox="1"/>
          <p:nvPr/>
        </p:nvSpPr>
        <p:spPr>
          <a:xfrm>
            <a:off x="236771" y="1144922"/>
            <a:ext cx="7024639" cy="1114185"/>
          </a:xfrm>
          <a:prstGeom prst="rect">
            <a:avLst/>
          </a:prstGeom>
          <a:noFill/>
          <a:ln w="0">
            <a:noFill/>
          </a:ln>
        </p:spPr>
        <p:txBody>
          <a:bodyPr lIns="91440" tIns="45720" rIns="91440" bIns="45720" anchor="b">
            <a:noAutofit/>
          </a:bodyPr>
          <a:lstStyle/>
          <a:p>
            <a:pPr algn="ctr">
              <a:lnSpc>
                <a:spcPct val="90000"/>
              </a:lnSpc>
            </a:pPr>
            <a:r>
              <a:rPr lang="en-US" sz="3333" b="1" spc="-1" dirty="0">
                <a:solidFill>
                  <a:schemeClr val="bg1"/>
                </a:solidFill>
                <a:latin typeface="+mj-lt"/>
              </a:rPr>
              <a:t>Fake News Detection System</a:t>
            </a:r>
          </a:p>
        </p:txBody>
      </p:sp>
      <p:sp>
        <p:nvSpPr>
          <p:cNvPr id="2" name="TextBox 1">
            <a:extLst>
              <a:ext uri="{FF2B5EF4-FFF2-40B4-BE49-F238E27FC236}">
                <a16:creationId xmlns:a16="http://schemas.microsoft.com/office/drawing/2014/main" id="{4E88EE61-2242-CA77-5668-E4432A881B62}"/>
              </a:ext>
            </a:extLst>
          </p:cNvPr>
          <p:cNvSpPr txBox="1"/>
          <p:nvPr/>
        </p:nvSpPr>
        <p:spPr>
          <a:xfrm>
            <a:off x="8531139" y="5285060"/>
            <a:ext cx="4699247" cy="1631216"/>
          </a:xfrm>
          <a:prstGeom prst="rect">
            <a:avLst/>
          </a:prstGeom>
          <a:noFill/>
        </p:spPr>
        <p:txBody>
          <a:bodyPr wrap="square" rtlCol="0">
            <a:spAutoFit/>
          </a:bodyPr>
          <a:lstStyle/>
          <a:p>
            <a:r>
              <a:rPr lang="en-IN" sz="2000" dirty="0">
                <a:solidFill>
                  <a:schemeClr val="bg1"/>
                </a:solidFill>
              </a:rPr>
              <a:t>Prepared by :</a:t>
            </a:r>
          </a:p>
          <a:p>
            <a:r>
              <a:rPr lang="en-IN" sz="2000" dirty="0" err="1">
                <a:solidFill>
                  <a:schemeClr val="bg1"/>
                </a:solidFill>
              </a:rPr>
              <a:t>Mohammadjisan</a:t>
            </a:r>
            <a:r>
              <a:rPr lang="en-IN" sz="2000" dirty="0">
                <a:solidFill>
                  <a:schemeClr val="bg1"/>
                </a:solidFill>
              </a:rPr>
              <a:t> Shaikh</a:t>
            </a:r>
          </a:p>
          <a:p>
            <a:endParaRPr lang="en-IN" sz="2000" dirty="0">
              <a:solidFill>
                <a:schemeClr val="bg1"/>
              </a:solidFill>
            </a:endParaRPr>
          </a:p>
          <a:p>
            <a:endParaRPr lang="en-IN" sz="2000" dirty="0">
              <a:solidFill>
                <a:schemeClr val="bg1"/>
              </a:solidFill>
            </a:endParaRPr>
          </a:p>
          <a:p>
            <a:endParaRPr lang="en-IN" sz="2000" dirty="0"/>
          </a:p>
        </p:txBody>
      </p:sp>
      <p:sp>
        <p:nvSpPr>
          <p:cNvPr id="11" name="TextBox 10">
            <a:extLst>
              <a:ext uri="{FF2B5EF4-FFF2-40B4-BE49-F238E27FC236}">
                <a16:creationId xmlns:a16="http://schemas.microsoft.com/office/drawing/2014/main" id="{B750B900-7CF4-4E3A-B3A5-521E18CC1138}"/>
              </a:ext>
            </a:extLst>
          </p:cNvPr>
          <p:cNvSpPr txBox="1"/>
          <p:nvPr/>
        </p:nvSpPr>
        <p:spPr>
          <a:xfrm>
            <a:off x="355106" y="5623668"/>
            <a:ext cx="4699247" cy="1350883"/>
          </a:xfrm>
          <a:prstGeom prst="rect">
            <a:avLst/>
          </a:prstGeom>
          <a:noFill/>
        </p:spPr>
        <p:txBody>
          <a:bodyPr wrap="square" rtlCol="0">
            <a:spAutoFit/>
          </a:bodyPr>
          <a:lstStyle/>
          <a:p>
            <a:endParaRPr lang="en-IN" sz="1600" i="1" dirty="0">
              <a:solidFill>
                <a:schemeClr val="bg1"/>
              </a:solidFill>
            </a:endParaRPr>
          </a:p>
          <a:p>
            <a:endParaRPr lang="en-IN" sz="1600" i="1" dirty="0">
              <a:solidFill>
                <a:schemeClr val="bg1"/>
              </a:solidFill>
            </a:endParaRPr>
          </a:p>
          <a:p>
            <a:endParaRPr lang="en-IN" sz="2489" dirty="0">
              <a:solidFill>
                <a:schemeClr val="bg1"/>
              </a:solidFill>
            </a:endParaRPr>
          </a:p>
          <a:p>
            <a:endParaRPr lang="en-IN" sz="2489" dirty="0"/>
          </a:p>
        </p:txBody>
      </p:sp>
      <p:pic>
        <p:nvPicPr>
          <p:cNvPr id="6" name="Picture 5">
            <a:extLst>
              <a:ext uri="{FF2B5EF4-FFF2-40B4-BE49-F238E27FC236}">
                <a16:creationId xmlns:a16="http://schemas.microsoft.com/office/drawing/2014/main" id="{74BB2898-6C74-C048-DEF2-8BDCEA0136A8}"/>
              </a:ext>
            </a:extLst>
          </p:cNvPr>
          <p:cNvPicPr>
            <a:picLocks noChangeAspect="1"/>
          </p:cNvPicPr>
          <p:nvPr/>
        </p:nvPicPr>
        <p:blipFill>
          <a:blip r:embed="rId4"/>
          <a:stretch>
            <a:fillRect/>
          </a:stretch>
        </p:blipFill>
        <p:spPr>
          <a:xfrm>
            <a:off x="355106" y="2957637"/>
            <a:ext cx="7325457" cy="34452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486429" y="1156214"/>
            <a:ext cx="4012707" cy="285607"/>
          </a:xfrm>
          <a:prstGeom prst="rect">
            <a:avLst/>
          </a:prstGeom>
          <a:noFill/>
          <a:ln>
            <a:noFill/>
          </a:ln>
        </p:spPr>
        <p:txBody>
          <a:bodyPr spcFirstLastPara="1" wrap="square" lIns="121900" tIns="121900" rIns="121900" bIns="121900" anchor="t" anchorCtr="0">
            <a:noAutofit/>
          </a:bodyPr>
          <a:lstStyle/>
          <a:p>
            <a:pPr>
              <a:buSzPts val="2800"/>
            </a:pPr>
            <a:r>
              <a:rPr lang="en" sz="2133" b="1">
                <a:solidFill>
                  <a:srgbClr val="213163"/>
                </a:solidFill>
              </a:rPr>
              <a:t>Project Objectives</a:t>
            </a:r>
            <a:endParaRPr sz="2133"/>
          </a:p>
        </p:txBody>
      </p:sp>
      <p:pic>
        <p:nvPicPr>
          <p:cNvPr id="4" name="Picture 3">
            <a:extLst>
              <a:ext uri="{FF2B5EF4-FFF2-40B4-BE49-F238E27FC236}">
                <a16:creationId xmlns:a16="http://schemas.microsoft.com/office/drawing/2014/main" id="{FE6ACA23-A691-BBFF-54D8-448548EFD8C2}"/>
              </a:ext>
            </a:extLst>
          </p:cNvPr>
          <p:cNvPicPr>
            <a:picLocks noChangeAspect="1"/>
          </p:cNvPicPr>
          <p:nvPr/>
        </p:nvPicPr>
        <p:blipFill>
          <a:blip r:embed="rId3"/>
          <a:stretch>
            <a:fillRect/>
          </a:stretch>
        </p:blipFill>
        <p:spPr>
          <a:xfrm>
            <a:off x="6980500" y="1637836"/>
            <a:ext cx="4259920" cy="4259920"/>
          </a:xfrm>
          <a:prstGeom prst="rect">
            <a:avLst/>
          </a:prstGeom>
        </p:spPr>
      </p:pic>
      <p:sp>
        <p:nvSpPr>
          <p:cNvPr id="6" name="Google Shape;62;g5fab984687_2_0">
            <a:extLst>
              <a:ext uri="{FF2B5EF4-FFF2-40B4-BE49-F238E27FC236}">
                <a16:creationId xmlns:a16="http://schemas.microsoft.com/office/drawing/2014/main" id="{2C2DB4A5-624B-CADA-0A3F-8AADD412BC0C}"/>
              </a:ext>
            </a:extLst>
          </p:cNvPr>
          <p:cNvSpPr txBox="1">
            <a:spLocks/>
          </p:cNvSpPr>
          <p:nvPr/>
        </p:nvSpPr>
        <p:spPr>
          <a:xfrm>
            <a:off x="486430" y="1820008"/>
            <a:ext cx="5126885" cy="369598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43834" indent="-243834">
              <a:buFont typeface="Arial" panose="020B0604020202020204" pitchFamily="34" charset="0"/>
              <a:buChar char="•"/>
            </a:pPr>
            <a:r>
              <a:rPr lang="en-US" sz="1867" dirty="0"/>
              <a:t>Problem Statement</a:t>
            </a:r>
          </a:p>
          <a:p>
            <a:pPr marL="243834" indent="-243834">
              <a:buFont typeface="Arial" panose="020B0604020202020204" pitchFamily="34" charset="0"/>
              <a:buChar char="•"/>
            </a:pPr>
            <a:r>
              <a:rPr lang="en-US" sz="1867" dirty="0"/>
              <a:t>Project Overview – Introduction</a:t>
            </a:r>
          </a:p>
          <a:p>
            <a:pPr marL="243834" indent="-243834">
              <a:buFont typeface="Arial" panose="020B0604020202020204" pitchFamily="34" charset="0"/>
              <a:buChar char="•"/>
            </a:pPr>
            <a:r>
              <a:rPr lang="en-US" sz="1867" dirty="0"/>
              <a:t>End Users</a:t>
            </a:r>
          </a:p>
          <a:p>
            <a:pPr marL="243834" indent="-243834">
              <a:buFont typeface="Arial" panose="020B0604020202020204" pitchFamily="34" charset="0"/>
              <a:buChar char="•"/>
            </a:pPr>
            <a:r>
              <a:rPr lang="en-US" sz="1867" dirty="0"/>
              <a:t>Wow Factor in Project</a:t>
            </a:r>
          </a:p>
          <a:p>
            <a:pPr marL="243834" indent="-243834">
              <a:buFont typeface="Arial" panose="020B0604020202020204" pitchFamily="34" charset="0"/>
              <a:buChar char="•"/>
            </a:pPr>
            <a:r>
              <a:rPr lang="en-US" sz="1867" dirty="0"/>
              <a:t>Modelling/Block Diagram/Flow of Project</a:t>
            </a:r>
          </a:p>
          <a:p>
            <a:pPr marL="243834" indent="-243834">
              <a:buFont typeface="Arial" panose="020B0604020202020204" pitchFamily="34" charset="0"/>
              <a:buChar char="•"/>
            </a:pPr>
            <a:r>
              <a:rPr lang="en-US" sz="1867" dirty="0"/>
              <a:t>Result/outcomes</a:t>
            </a:r>
          </a:p>
          <a:p>
            <a:pPr marL="243834" indent="-243834">
              <a:buFont typeface="Arial" panose="020B0604020202020204" pitchFamily="34" charset="0"/>
              <a:buChar char="•"/>
            </a:pPr>
            <a:r>
              <a:rPr lang="en-US" sz="1867" dirty="0"/>
              <a:t>Conclusion</a:t>
            </a:r>
          </a:p>
          <a:p>
            <a:pPr marL="243834" indent="-243834">
              <a:buFont typeface="Arial" panose="020B0604020202020204" pitchFamily="34" charset="0"/>
              <a:buChar char="•"/>
            </a:pPr>
            <a:r>
              <a:rPr lang="en-US" sz="1867" dirty="0"/>
              <a:t>Future Perspective</a:t>
            </a:r>
          </a:p>
          <a:p>
            <a:pPr marL="243834" indent="-243834">
              <a:buFont typeface="Arial" panose="020B0604020202020204" pitchFamily="34" charset="0"/>
              <a:buChar char="•"/>
            </a:pPr>
            <a:endParaRPr lang="en-US" sz="1867" dirty="0"/>
          </a:p>
          <a:p>
            <a:pPr marL="243834" indent="-243834">
              <a:buFont typeface="Arial" panose="020B0604020202020204" pitchFamily="34" charset="0"/>
              <a:buChar char="•"/>
            </a:pPr>
            <a:endParaRPr lang="en-US" sz="1867" dirty="0"/>
          </a:p>
          <a:p>
            <a:pPr marL="243834" indent="-243834">
              <a:buFont typeface="Arial" panose="020B0604020202020204" pitchFamily="34" charset="0"/>
              <a:buChar char="•"/>
            </a:pPr>
            <a:endParaRPr lang="en-US" sz="1867" dirty="0"/>
          </a:p>
          <a:p>
            <a:pPr marL="243834" indent="-243834">
              <a:buFont typeface="Arial" panose="020B0604020202020204" pitchFamily="34" charset="0"/>
              <a:buChar char="•"/>
            </a:pPr>
            <a:endParaRPr lang="en-US" sz="1867" dirty="0"/>
          </a:p>
          <a:p>
            <a:pPr marL="243834" indent="-243834">
              <a:buFont typeface="Arial" panose="020B0604020202020204" pitchFamily="34" charset="0"/>
              <a:buChar char="•"/>
            </a:pPr>
            <a:endParaRPr lang="en-US" sz="18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dirty="0">
                <a:solidFill>
                  <a:srgbClr val="002060"/>
                </a:solidFill>
              </a:rPr>
              <a:t>Problem Statement</a:t>
            </a:r>
          </a:p>
        </p:txBody>
      </p:sp>
      <p:sp>
        <p:nvSpPr>
          <p:cNvPr id="2" name="TextBox 1">
            <a:extLst>
              <a:ext uri="{FF2B5EF4-FFF2-40B4-BE49-F238E27FC236}">
                <a16:creationId xmlns:a16="http://schemas.microsoft.com/office/drawing/2014/main" id="{0D88A5B2-761A-3AE6-93BD-740AD8BDBABA}"/>
              </a:ext>
            </a:extLst>
          </p:cNvPr>
          <p:cNvSpPr txBox="1"/>
          <p:nvPr/>
        </p:nvSpPr>
        <p:spPr>
          <a:xfrm>
            <a:off x="290873" y="2000922"/>
            <a:ext cx="11610254" cy="3416320"/>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rapid spread of fake news online has become a significant concern, leading to misinformation, confusion, and public distrust. Fake news, including fabricated stories and misleading headlines, can manipulate public opinion and cause harm, especially during critical events like elections or public health crises.</a:t>
            </a:r>
          </a:p>
          <a:p>
            <a:endParaRPr lang="en-US" sz="1800" dirty="0"/>
          </a:p>
          <a:p>
            <a:pPr marL="285750" indent="-285750">
              <a:buFont typeface="Arial" panose="020B0604020202020204" pitchFamily="34" charset="0"/>
              <a:buChar char="•"/>
            </a:pPr>
            <a:r>
              <a:rPr lang="en-US" sz="1800" dirty="0"/>
              <a:t>Currently, manual fact-checking is the primary method for identifying fake news, but it is inefficient and unable to keep up with the large volume of news being produced. Fact-checking takes time, allowing misinformation to spread before it can be addressed.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There is a pressing need for an automated system to identify fake news based on content analysis. Such a system would help quickly assess the credibility of news articles, flag misleading claims, and prevent the spread of false information, ultimately reducing the impact of fake news on society.</a:t>
            </a:r>
          </a:p>
          <a:p>
            <a:endParaRPr lang="en-IN" sz="1800" dirty="0"/>
          </a:p>
        </p:txBody>
      </p:sp>
    </p:spTree>
    <p:extLst>
      <p:ext uri="{BB962C8B-B14F-4D97-AF65-F5344CB8AC3E}">
        <p14:creationId xmlns:p14="http://schemas.microsoft.com/office/powerpoint/2010/main" val="1607993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dirty="0">
                <a:solidFill>
                  <a:srgbClr val="002060"/>
                </a:solidFill>
              </a:rPr>
              <a:t>Project overview - Introduction</a:t>
            </a:r>
          </a:p>
        </p:txBody>
      </p:sp>
      <p:sp>
        <p:nvSpPr>
          <p:cNvPr id="2" name="TextBox 1">
            <a:extLst>
              <a:ext uri="{FF2B5EF4-FFF2-40B4-BE49-F238E27FC236}">
                <a16:creationId xmlns:a16="http://schemas.microsoft.com/office/drawing/2014/main" id="{03F8C694-B9C0-12C1-7D5C-519B89083631}"/>
              </a:ext>
            </a:extLst>
          </p:cNvPr>
          <p:cNvSpPr txBox="1"/>
          <p:nvPr/>
        </p:nvSpPr>
        <p:spPr>
          <a:xfrm>
            <a:off x="484094" y="1893346"/>
            <a:ext cx="10994316" cy="3970318"/>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rise of digital media has led to an increase in the spread of fake news, which includes misleading, fabricated, or exaggerated stories designed to deceive the public. Fake news can have serious consequences, such as influencing elections, causing panic, and eroding trust in credible information sources.</a:t>
            </a:r>
          </a:p>
          <a:p>
            <a:endParaRPr lang="en-US" sz="1800" dirty="0"/>
          </a:p>
          <a:p>
            <a:pPr marL="285750" indent="-285750">
              <a:buFont typeface="Arial" panose="020B0604020202020204" pitchFamily="34" charset="0"/>
              <a:buChar char="•"/>
            </a:pPr>
            <a:r>
              <a:rPr lang="en-US" sz="1800" dirty="0"/>
              <a:t>Current methods of fact-checking are time-consuming and inefficient, especially with the volume of news being produced every minute. To address this, the Fake News Detection System aims to develop an automated solution using Machine Learning (ML) techniques. The system will analyze news content, identify linguistic patterns, and assess source credibility to classify articles as fake or real.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goal is to create a scalable tool that can quickly process large volumes of news and help reduce the spread of misinformation, supporting journalists, media organizations, and the public in making informed decisions.</a:t>
            </a:r>
          </a:p>
          <a:p>
            <a:endParaRPr lang="en-IN" sz="1800" dirty="0"/>
          </a:p>
        </p:txBody>
      </p:sp>
    </p:spTree>
    <p:extLst>
      <p:ext uri="{BB962C8B-B14F-4D97-AF65-F5344CB8AC3E}">
        <p14:creationId xmlns:p14="http://schemas.microsoft.com/office/powerpoint/2010/main" val="376441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a:solidFill>
                  <a:srgbClr val="002060"/>
                </a:solidFill>
              </a:rPr>
              <a:t>End User</a:t>
            </a:r>
          </a:p>
        </p:txBody>
      </p:sp>
      <p:sp>
        <p:nvSpPr>
          <p:cNvPr id="2" name="TextBox 1">
            <a:extLst>
              <a:ext uri="{FF2B5EF4-FFF2-40B4-BE49-F238E27FC236}">
                <a16:creationId xmlns:a16="http://schemas.microsoft.com/office/drawing/2014/main" id="{BFE8236E-F9B0-ACDB-77E0-82FC8D52DB08}"/>
              </a:ext>
            </a:extLst>
          </p:cNvPr>
          <p:cNvSpPr txBox="1"/>
          <p:nvPr/>
        </p:nvSpPr>
        <p:spPr>
          <a:xfrm>
            <a:off x="390136" y="1710466"/>
            <a:ext cx="11120546" cy="4247317"/>
          </a:xfrm>
          <a:prstGeom prst="rect">
            <a:avLst/>
          </a:prstGeom>
          <a:noFill/>
        </p:spPr>
        <p:txBody>
          <a:bodyPr wrap="square" rtlCol="0">
            <a:spAutoFit/>
          </a:bodyPr>
          <a:lstStyle/>
          <a:p>
            <a:r>
              <a:rPr lang="en-US" sz="1800" dirty="0"/>
              <a:t>The Fake News Detection System serves multiple end users, each with specific needs in combating misinformation:</a:t>
            </a:r>
          </a:p>
          <a:p>
            <a:endParaRPr lang="en-US" sz="1800" dirty="0"/>
          </a:p>
          <a:p>
            <a:pPr marL="342900" indent="-342900">
              <a:buFont typeface="+mj-lt"/>
              <a:buAutoNum type="arabicPeriod"/>
            </a:pPr>
            <a:r>
              <a:rPr lang="en-US" sz="1800" b="1" dirty="0"/>
              <a:t> Journalists: Verifying News Authenticity</a:t>
            </a:r>
            <a:endParaRPr lang="en-US" sz="1800" dirty="0"/>
          </a:p>
          <a:p>
            <a:pPr marL="285750" indent="-285750">
              <a:buFont typeface="Arial" panose="020B0604020202020204" pitchFamily="34" charset="0"/>
              <a:buChar char="•"/>
            </a:pPr>
            <a:r>
              <a:rPr lang="en-US" sz="1800" b="1" dirty="0"/>
              <a:t>Use Case</a:t>
            </a:r>
            <a:r>
              <a:rPr lang="en-US" sz="1800" dirty="0"/>
              <a:t>: Helps journalists quickly verify news articles and flag fake content.</a:t>
            </a:r>
          </a:p>
          <a:p>
            <a:pPr marL="285750" indent="-285750">
              <a:buFont typeface="Arial" panose="020B0604020202020204" pitchFamily="34" charset="0"/>
              <a:buChar char="•"/>
            </a:pPr>
            <a:r>
              <a:rPr lang="en-US" sz="1800" b="1" dirty="0"/>
              <a:t>Benefit</a:t>
            </a:r>
            <a:r>
              <a:rPr lang="en-US" sz="1800" dirty="0"/>
              <a:t>: Saves time and ensures reliable reporting, maintaining credibility.</a:t>
            </a:r>
          </a:p>
          <a:p>
            <a:endParaRPr lang="en-US" sz="1800" dirty="0"/>
          </a:p>
          <a:p>
            <a:pPr marL="342900" indent="-342900">
              <a:buFont typeface="+mj-lt"/>
              <a:buAutoNum type="arabicPeriod" startAt="2"/>
            </a:pPr>
            <a:r>
              <a:rPr lang="en-US" sz="1800" b="1" dirty="0"/>
              <a:t>Social Media Platforms: Flagging Fake Content Automatically</a:t>
            </a:r>
            <a:endParaRPr lang="en-US" sz="1800" dirty="0"/>
          </a:p>
          <a:p>
            <a:pPr marL="285750" indent="-285750">
              <a:buFont typeface="Arial" panose="020B0604020202020204" pitchFamily="34" charset="0"/>
              <a:buChar char="•"/>
            </a:pPr>
            <a:r>
              <a:rPr lang="en-US" sz="1800" b="1" dirty="0"/>
              <a:t>Use Case</a:t>
            </a:r>
            <a:r>
              <a:rPr lang="en-US" sz="1800" dirty="0"/>
              <a:t>: Automatically flags fake news articles and posts based on analysis.</a:t>
            </a:r>
          </a:p>
          <a:p>
            <a:pPr marL="285750" indent="-285750">
              <a:buFont typeface="Arial" panose="020B0604020202020204" pitchFamily="34" charset="0"/>
              <a:buChar char="•"/>
            </a:pPr>
            <a:r>
              <a:rPr lang="en-US" sz="1800" b="1" dirty="0"/>
              <a:t>Benefit</a:t>
            </a:r>
            <a:r>
              <a:rPr lang="en-US" sz="1800" dirty="0"/>
              <a:t>: Reduces the spread of misinformation and improves content moderation.</a:t>
            </a:r>
          </a:p>
          <a:p>
            <a:endParaRPr lang="en-US" sz="1800" dirty="0"/>
          </a:p>
          <a:p>
            <a:pPr marL="342900" indent="-342900">
              <a:buFont typeface="+mj-lt"/>
              <a:buAutoNum type="arabicPeriod" startAt="3"/>
            </a:pPr>
            <a:r>
              <a:rPr lang="en-US" sz="1800" b="1" dirty="0"/>
              <a:t>General Public: Real-Time Verification via Browser Extensions/Apps</a:t>
            </a:r>
            <a:endParaRPr lang="en-US" sz="1800" dirty="0"/>
          </a:p>
          <a:p>
            <a:pPr marL="285750" indent="-285750">
              <a:buFont typeface="Arial" panose="020B0604020202020204" pitchFamily="34" charset="0"/>
              <a:buChar char="•"/>
            </a:pPr>
            <a:r>
              <a:rPr lang="en-US" sz="1800" b="1" dirty="0"/>
              <a:t>Use Case</a:t>
            </a:r>
            <a:r>
              <a:rPr lang="en-US" sz="1800" dirty="0"/>
              <a:t>: Provides real-time fake news detection through browser extensions or apps.</a:t>
            </a:r>
          </a:p>
          <a:p>
            <a:pPr marL="285750" indent="-285750">
              <a:buFont typeface="Arial" panose="020B0604020202020204" pitchFamily="34" charset="0"/>
              <a:buChar char="•"/>
            </a:pPr>
            <a:r>
              <a:rPr lang="en-US" sz="1800" b="1" dirty="0"/>
              <a:t>Benefit</a:t>
            </a:r>
            <a:r>
              <a:rPr lang="en-US" sz="1800" dirty="0"/>
              <a:t>: Empowers users to verify content before sharing and helps reduce misinformation.</a:t>
            </a:r>
          </a:p>
          <a:p>
            <a:endParaRPr lang="en-IN" sz="1800" dirty="0"/>
          </a:p>
        </p:txBody>
      </p:sp>
    </p:spTree>
    <p:extLst>
      <p:ext uri="{BB962C8B-B14F-4D97-AF65-F5344CB8AC3E}">
        <p14:creationId xmlns:p14="http://schemas.microsoft.com/office/powerpoint/2010/main" val="1119326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dirty="0">
                <a:solidFill>
                  <a:srgbClr val="002060"/>
                </a:solidFill>
              </a:rPr>
              <a:t>Wow Factor in Solution</a:t>
            </a:r>
          </a:p>
        </p:txBody>
      </p:sp>
      <p:sp>
        <p:nvSpPr>
          <p:cNvPr id="2" name="TextBox 1">
            <a:extLst>
              <a:ext uri="{FF2B5EF4-FFF2-40B4-BE49-F238E27FC236}">
                <a16:creationId xmlns:a16="http://schemas.microsoft.com/office/drawing/2014/main" id="{20750CB1-3375-45A4-F70C-E1CBC2B6BE0C}"/>
              </a:ext>
            </a:extLst>
          </p:cNvPr>
          <p:cNvSpPr txBox="1"/>
          <p:nvPr/>
        </p:nvSpPr>
        <p:spPr>
          <a:xfrm>
            <a:off x="502023" y="1602889"/>
            <a:ext cx="11256085" cy="4801314"/>
          </a:xfrm>
          <a:prstGeom prst="rect">
            <a:avLst/>
          </a:prstGeom>
          <a:noFill/>
        </p:spPr>
        <p:txBody>
          <a:bodyPr wrap="square" rtlCol="0">
            <a:spAutoFit/>
          </a:bodyPr>
          <a:lstStyle/>
          <a:p>
            <a:r>
              <a:rPr lang="en-US" sz="1800" dirty="0"/>
              <a:t>The Fake News Detection System stands out with the following key features:</a:t>
            </a:r>
          </a:p>
          <a:p>
            <a:endParaRPr lang="en-US" sz="1800" dirty="0"/>
          </a:p>
          <a:p>
            <a:pPr marL="342900" indent="-342900">
              <a:buFont typeface="+mj-lt"/>
              <a:buAutoNum type="arabicPeriod"/>
            </a:pPr>
            <a:r>
              <a:rPr lang="en-IN" sz="1800" b="1" dirty="0"/>
              <a:t> Hybrid Model: </a:t>
            </a:r>
            <a:r>
              <a:rPr lang="en-IN" sz="1800" dirty="0"/>
              <a:t>Combines Multiple ML Algorithms for Higher Accuracy</a:t>
            </a:r>
          </a:p>
          <a:p>
            <a:pPr marL="285750" indent="-285750">
              <a:buFont typeface="Arial" panose="020B0604020202020204" pitchFamily="34" charset="0"/>
              <a:buChar char="•"/>
            </a:pPr>
            <a:r>
              <a:rPr lang="en-IN" sz="1800" b="1" dirty="0"/>
              <a:t>Description</a:t>
            </a:r>
            <a:r>
              <a:rPr lang="en-IN" sz="1800" dirty="0"/>
              <a:t>: Uses a combination of algorithms (e.g., Random Forest, Gradient Boosting, SVM) for more accurate predictions.</a:t>
            </a:r>
          </a:p>
          <a:p>
            <a:pPr marL="285750" indent="-285750">
              <a:buFont typeface="Arial" panose="020B0604020202020204" pitchFamily="34" charset="0"/>
              <a:buChar char="•"/>
            </a:pPr>
            <a:r>
              <a:rPr lang="en-IN" sz="1800" b="1" dirty="0"/>
              <a:t>Benefit</a:t>
            </a:r>
            <a:r>
              <a:rPr lang="en-IN" sz="1800" dirty="0"/>
              <a:t>: Increases accuracy by leveraging the strengths of multiple models, reducing false positives and negatives.</a:t>
            </a:r>
          </a:p>
          <a:p>
            <a:pPr>
              <a:buFont typeface="Arial" panose="020B0604020202020204" pitchFamily="34" charset="0"/>
              <a:buChar char="•"/>
            </a:pPr>
            <a:endParaRPr lang="en-IN" sz="1800" dirty="0"/>
          </a:p>
          <a:p>
            <a:pPr marL="342900" indent="-342900">
              <a:buFont typeface="+mj-lt"/>
              <a:buAutoNum type="arabicPeriod" startAt="2"/>
            </a:pPr>
            <a:r>
              <a:rPr lang="en-US" sz="1800" b="1" dirty="0"/>
              <a:t> Real-Time Prediction: </a:t>
            </a:r>
            <a:r>
              <a:rPr lang="en-US" sz="1800" dirty="0"/>
              <a:t>Demo with User-Input News Text</a:t>
            </a:r>
          </a:p>
          <a:p>
            <a:pPr marL="285750" indent="-285750">
              <a:buFont typeface="Arial" panose="020B0604020202020204" pitchFamily="34" charset="0"/>
              <a:buChar char="•"/>
            </a:pPr>
            <a:r>
              <a:rPr lang="en-US" sz="1800" b="1" dirty="0"/>
              <a:t>Description</a:t>
            </a:r>
            <a:r>
              <a:rPr lang="en-US" sz="1800" dirty="0"/>
              <a:t>: Allows users to input news text and receive immediate feedback on its authenticity.</a:t>
            </a:r>
          </a:p>
          <a:p>
            <a:pPr marL="285750" indent="-285750">
              <a:buFont typeface="Arial" panose="020B0604020202020204" pitchFamily="34" charset="0"/>
              <a:buChar char="•"/>
            </a:pPr>
            <a:r>
              <a:rPr lang="en-US" sz="1800" b="1" dirty="0"/>
              <a:t>Benefit</a:t>
            </a:r>
            <a:r>
              <a:rPr lang="en-US" sz="1800" dirty="0"/>
              <a:t>: Provides instant verification, making the system highly interactive and practical for daily use.</a:t>
            </a:r>
          </a:p>
          <a:p>
            <a:pPr>
              <a:buFont typeface="Arial" panose="020B0604020202020204" pitchFamily="34" charset="0"/>
              <a:buChar char="•"/>
            </a:pPr>
            <a:endParaRPr lang="en-IN" sz="1800" dirty="0"/>
          </a:p>
          <a:p>
            <a:pPr marL="342900" indent="-342900">
              <a:buFont typeface="+mj-lt"/>
              <a:buAutoNum type="arabicPeriod" startAt="3"/>
            </a:pPr>
            <a:r>
              <a:rPr lang="en-US" sz="1800" b="1" dirty="0"/>
              <a:t>Scalable: </a:t>
            </a:r>
            <a:r>
              <a:rPr lang="en-US" sz="1800" dirty="0"/>
              <a:t>Can Integrate with APIs (e.g., Twitter, News Aggregators)</a:t>
            </a:r>
          </a:p>
          <a:p>
            <a:pPr marL="285750" indent="-285750">
              <a:buFont typeface="Arial" panose="020B0604020202020204" pitchFamily="34" charset="0"/>
              <a:buChar char="•"/>
            </a:pPr>
            <a:r>
              <a:rPr lang="en-US" sz="1800" b="1" dirty="0"/>
              <a:t>Description</a:t>
            </a:r>
            <a:r>
              <a:rPr lang="en-US" sz="1800" dirty="0"/>
              <a:t>: Can connect with APIs to analyze content from platforms like Twitter or news aggregators.</a:t>
            </a:r>
          </a:p>
          <a:p>
            <a:pPr marL="285750" indent="-285750">
              <a:buFont typeface="Arial" panose="020B0604020202020204" pitchFamily="34" charset="0"/>
              <a:buChar char="•"/>
            </a:pPr>
            <a:r>
              <a:rPr lang="en-US" sz="1800" b="1" dirty="0"/>
              <a:t>Benefit</a:t>
            </a:r>
            <a:r>
              <a:rPr lang="en-US" sz="1800" dirty="0"/>
              <a:t>: Enables large-scale detection and monitoring of fake news across multiple platforms.</a:t>
            </a:r>
          </a:p>
          <a:p>
            <a:pPr>
              <a:buFont typeface="Arial" panose="020B0604020202020204" pitchFamily="34" charset="0"/>
              <a:buChar char="•"/>
            </a:pPr>
            <a:endParaRPr lang="en-IN" sz="1800" dirty="0"/>
          </a:p>
          <a:p>
            <a:endParaRPr lang="en-IN" sz="1800" dirty="0"/>
          </a:p>
        </p:txBody>
      </p:sp>
    </p:spTree>
    <p:extLst>
      <p:ext uri="{BB962C8B-B14F-4D97-AF65-F5344CB8AC3E}">
        <p14:creationId xmlns:p14="http://schemas.microsoft.com/office/powerpoint/2010/main" val="387430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a:xfrm>
            <a:off x="686540" y="266026"/>
            <a:ext cx="11360800" cy="763600"/>
          </a:xfrm>
        </p:spPr>
        <p:txBody>
          <a:bodyPr/>
          <a:lstStyle/>
          <a:p>
            <a:r>
              <a:rPr lang="en-IN" sz="3200" dirty="0">
                <a:solidFill>
                  <a:srgbClr val="002060"/>
                </a:solidFill>
              </a:rPr>
              <a:t>Modelling</a:t>
            </a:r>
          </a:p>
        </p:txBody>
      </p:sp>
      <p:pic>
        <p:nvPicPr>
          <p:cNvPr id="7" name="Picture 6">
            <a:extLst>
              <a:ext uri="{FF2B5EF4-FFF2-40B4-BE49-F238E27FC236}">
                <a16:creationId xmlns:a16="http://schemas.microsoft.com/office/drawing/2014/main" id="{8AA1CD1B-38C0-D0C3-9D04-919A1AF33D05}"/>
              </a:ext>
            </a:extLst>
          </p:cNvPr>
          <p:cNvPicPr>
            <a:picLocks noChangeAspect="1"/>
          </p:cNvPicPr>
          <p:nvPr/>
        </p:nvPicPr>
        <p:blipFill>
          <a:blip r:embed="rId2"/>
          <a:stretch>
            <a:fillRect/>
          </a:stretch>
        </p:blipFill>
        <p:spPr>
          <a:xfrm>
            <a:off x="1124330" y="1029626"/>
            <a:ext cx="10101431" cy="5682055"/>
          </a:xfrm>
          <a:prstGeom prst="rect">
            <a:avLst/>
          </a:prstGeom>
        </p:spPr>
      </p:pic>
    </p:spTree>
    <p:extLst>
      <p:ext uri="{BB962C8B-B14F-4D97-AF65-F5344CB8AC3E}">
        <p14:creationId xmlns:p14="http://schemas.microsoft.com/office/powerpoint/2010/main" val="3595609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dirty="0">
                <a:solidFill>
                  <a:srgbClr val="002060"/>
                </a:solidFill>
              </a:rPr>
              <a:t>Result / Outcomes</a:t>
            </a:r>
            <a:endParaRPr lang="en-US" dirty="0"/>
          </a:p>
        </p:txBody>
      </p:sp>
      <p:sp>
        <p:nvSpPr>
          <p:cNvPr id="2" name="TextBox 1">
            <a:extLst>
              <a:ext uri="{FF2B5EF4-FFF2-40B4-BE49-F238E27FC236}">
                <a16:creationId xmlns:a16="http://schemas.microsoft.com/office/drawing/2014/main" id="{48E43D08-7A70-8CFC-4F94-F58F70673CDC}"/>
              </a:ext>
            </a:extLst>
          </p:cNvPr>
          <p:cNvSpPr txBox="1"/>
          <p:nvPr/>
        </p:nvSpPr>
        <p:spPr>
          <a:xfrm>
            <a:off x="492903" y="1748762"/>
            <a:ext cx="10913616" cy="4924425"/>
          </a:xfrm>
          <a:prstGeom prst="rect">
            <a:avLst/>
          </a:prstGeom>
          <a:noFill/>
        </p:spPr>
        <p:txBody>
          <a:bodyPr wrap="square" rtlCol="0">
            <a:spAutoFit/>
          </a:bodyPr>
          <a:lstStyle/>
          <a:p>
            <a:pPr>
              <a:buNone/>
            </a:pPr>
            <a:r>
              <a:rPr lang="en-US" sz="1800" b="1" dirty="0"/>
              <a:t>Ensemble Model with Voting Mechanism:</a:t>
            </a:r>
          </a:p>
          <a:p>
            <a:pPr>
              <a:buNone/>
            </a:pPr>
            <a:endParaRPr lang="en-US" sz="1800" dirty="0"/>
          </a:p>
          <a:p>
            <a:pPr marL="285750" indent="-285750">
              <a:buFont typeface="Arial" panose="020B0604020202020204" pitchFamily="34" charset="0"/>
              <a:buChar char="•"/>
            </a:pPr>
            <a:r>
              <a:rPr lang="en-US" sz="1800" dirty="0"/>
              <a:t>Multiple models were trained:</a:t>
            </a:r>
          </a:p>
          <a:p>
            <a:pPr marL="742950" lvl="1" indent="-285750">
              <a:buFont typeface="Arial" panose="020B0604020202020204" pitchFamily="34" charset="0"/>
              <a:buChar char="•"/>
            </a:pPr>
            <a:r>
              <a:rPr lang="en-US" sz="1800" dirty="0"/>
              <a:t>Passive Aggressive Classifier (PAC)</a:t>
            </a:r>
          </a:p>
          <a:p>
            <a:pPr marL="742950" lvl="1" indent="-285750">
              <a:buFont typeface="Arial" panose="020B0604020202020204" pitchFamily="34" charset="0"/>
              <a:buChar char="•"/>
            </a:pPr>
            <a:r>
              <a:rPr lang="en-US" sz="1800" dirty="0"/>
              <a:t>Gradient Boosting Classifier</a:t>
            </a:r>
          </a:p>
          <a:p>
            <a:pPr marL="742950" lvl="1" indent="-285750">
              <a:buFont typeface="Arial" panose="020B0604020202020204" pitchFamily="34" charset="0"/>
              <a:buChar char="•"/>
            </a:pPr>
            <a:r>
              <a:rPr lang="en-US" sz="1800" dirty="0"/>
              <a:t>Random Forest Classifier</a:t>
            </a:r>
          </a:p>
          <a:p>
            <a:pPr marL="742950" lvl="1" indent="-285750">
              <a:buFont typeface="Arial" panose="020B0604020202020204" pitchFamily="34" charset="0"/>
              <a:buChar char="•"/>
            </a:pPr>
            <a:r>
              <a:rPr lang="en-US" sz="1800" dirty="0"/>
              <a:t>Decision Tree Classifier</a:t>
            </a:r>
          </a:p>
          <a:p>
            <a:pPr marL="285750" indent="-285750">
              <a:buFont typeface="Arial" panose="020B0604020202020204" pitchFamily="34" charset="0"/>
              <a:buChar char="•"/>
            </a:pPr>
            <a:r>
              <a:rPr lang="en-US" sz="1800" dirty="0"/>
              <a:t>Each model predicts True (Real) or False (Fake) for a given news article.</a:t>
            </a:r>
          </a:p>
          <a:p>
            <a:pPr marL="285750" indent="-285750">
              <a:buFont typeface="Arial" panose="020B0604020202020204" pitchFamily="34" charset="0"/>
              <a:buChar char="•"/>
            </a:pPr>
            <a:r>
              <a:rPr lang="en-US" sz="1800" dirty="0"/>
              <a:t>Final prediction is based on majority voting — the class (True/False) predicted by most models is selected as the final result.</a:t>
            </a:r>
          </a:p>
          <a:p>
            <a:pPr marL="285750" indent="-285750">
              <a:buFont typeface="Arial" panose="020B0604020202020204" pitchFamily="34" charset="0"/>
              <a:buChar char="•"/>
            </a:pPr>
            <a:endParaRPr lang="en-US" sz="1800" dirty="0"/>
          </a:p>
          <a:p>
            <a:pPr>
              <a:buNone/>
            </a:pPr>
            <a:r>
              <a:rPr lang="en-US" sz="1600" b="1" dirty="0"/>
              <a:t>Accuracy:</a:t>
            </a:r>
          </a:p>
          <a:p>
            <a:pPr>
              <a:buNone/>
            </a:pPr>
            <a:endParaRPr lang="en-US" sz="1600" dirty="0"/>
          </a:p>
          <a:p>
            <a:pPr marL="285750" indent="-285750">
              <a:buFont typeface="Arial" panose="020B0604020202020204" pitchFamily="34" charset="0"/>
              <a:buChar char="•"/>
            </a:pPr>
            <a:r>
              <a:rPr lang="en-US" sz="1600" dirty="0"/>
              <a:t>Achieved about  99% accuracy with consistent performance across models.</a:t>
            </a:r>
          </a:p>
          <a:p>
            <a:pPr marL="285750" indent="-285750">
              <a:buFont typeface="Arial" panose="020B0604020202020204" pitchFamily="34" charset="0"/>
              <a:buChar char="•"/>
            </a:pPr>
            <a:r>
              <a:rPr lang="en-US" sz="1600" dirty="0"/>
              <a:t>The ensemble voting approach reduces individual model bias and improves reliability.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800" dirty="0"/>
          </a:p>
          <a:p>
            <a:endParaRPr lang="en-IN" sz="1800" dirty="0">
              <a:latin typeface="Arial" panose="020B0604020202020204" pitchFamily="34" charset="0"/>
            </a:endParaRPr>
          </a:p>
        </p:txBody>
      </p:sp>
    </p:spTree>
    <p:extLst>
      <p:ext uri="{BB962C8B-B14F-4D97-AF65-F5344CB8AC3E}">
        <p14:creationId xmlns:p14="http://schemas.microsoft.com/office/powerpoint/2010/main" val="201607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B68C-1AE7-6AB9-D7F6-1A8B280009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C53C8C-ABD7-8422-3BB5-4C1CC95999F4}"/>
              </a:ext>
            </a:extLst>
          </p:cNvPr>
          <p:cNvSpPr>
            <a:spLocks noGrp="1"/>
          </p:cNvSpPr>
          <p:nvPr>
            <p:ph type="title"/>
          </p:nvPr>
        </p:nvSpPr>
        <p:spPr/>
        <p:txBody>
          <a:bodyPr/>
          <a:lstStyle/>
          <a:p>
            <a:r>
              <a:rPr lang="en-IN" sz="3200" dirty="0">
                <a:solidFill>
                  <a:srgbClr val="002060"/>
                </a:solidFill>
              </a:rPr>
              <a:t>Result / Outcomes</a:t>
            </a:r>
            <a:endParaRPr lang="en-US" dirty="0"/>
          </a:p>
        </p:txBody>
      </p:sp>
      <p:sp>
        <p:nvSpPr>
          <p:cNvPr id="6" name="Rectangle 3">
            <a:extLst>
              <a:ext uri="{FF2B5EF4-FFF2-40B4-BE49-F238E27FC236}">
                <a16:creationId xmlns:a16="http://schemas.microsoft.com/office/drawing/2014/main" id="{B40727FC-D095-9EB5-9FC9-E2DABA11D27F}"/>
              </a:ext>
            </a:extLst>
          </p:cNvPr>
          <p:cNvSpPr>
            <a:spLocks noChangeArrowheads="1"/>
          </p:cNvSpPr>
          <p:nvPr/>
        </p:nvSpPr>
        <p:spPr bwMode="auto">
          <a:xfrm>
            <a:off x="849854" y="1562358"/>
            <a:ext cx="1065007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j-lt"/>
              </a:rPr>
              <a:t>Demo Example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Input</a:t>
            </a:r>
            <a:r>
              <a:rPr kumimoji="0" lang="en-US" altLang="en-US" sz="1800" b="0" i="0" u="none" strike="noStrike" cap="none" normalizeH="0" baseline="0" dirty="0">
                <a:ln>
                  <a:noFill/>
                </a:ln>
                <a:solidFill>
                  <a:schemeClr val="tx1"/>
                </a:solidFill>
                <a:effectLst/>
                <a:latin typeface="+mj-lt"/>
              </a:rPr>
              <a:t>: "COVID-19 cure discovered in 24 hours!“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PAC: Fake | RF: Fake | DT: Fake | GB: Real → Final:  </a:t>
            </a:r>
            <a:r>
              <a:rPr kumimoji="0" lang="en-US" altLang="en-US" sz="1800" b="1" i="0" u="none" strike="noStrike" cap="none" normalizeH="0" baseline="0" dirty="0">
                <a:ln>
                  <a:noFill/>
                </a:ln>
                <a:solidFill>
                  <a:schemeClr val="tx1"/>
                </a:solidFill>
                <a:effectLst/>
                <a:latin typeface="+mj-lt"/>
              </a:rPr>
              <a:t>Fake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Input</a:t>
            </a:r>
            <a:r>
              <a:rPr kumimoji="0" lang="en-US" altLang="en-US" sz="1800" b="0" i="0" u="none" strike="noStrike" cap="none" normalizeH="0" baseline="0" dirty="0">
                <a:ln>
                  <a:noFill/>
                </a:ln>
                <a:solidFill>
                  <a:schemeClr val="tx1"/>
                </a:solidFill>
                <a:effectLst/>
                <a:latin typeface="+mj-lt"/>
              </a:rPr>
              <a:t>: "Government unveils new education policy“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All models: Real → Final:  </a:t>
            </a:r>
            <a:r>
              <a:rPr kumimoji="0" lang="en-US" altLang="en-US" sz="1800" b="1" i="0" u="none" strike="noStrike" cap="none" normalizeH="0" baseline="0" dirty="0">
                <a:ln>
                  <a:noFill/>
                </a:ln>
                <a:solidFill>
                  <a:schemeClr val="tx1"/>
                </a:solidFill>
                <a:effectLst/>
                <a:latin typeface="+mj-lt"/>
              </a:rPr>
              <a:t>Real</a:t>
            </a: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604993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3200" dirty="0">
                <a:solidFill>
                  <a:srgbClr val="002060"/>
                </a:solidFill>
              </a:rPr>
              <a:t>Conclusion</a:t>
            </a:r>
          </a:p>
        </p:txBody>
      </p:sp>
      <p:sp>
        <p:nvSpPr>
          <p:cNvPr id="2" name="TextBox 1">
            <a:extLst>
              <a:ext uri="{FF2B5EF4-FFF2-40B4-BE49-F238E27FC236}">
                <a16:creationId xmlns:a16="http://schemas.microsoft.com/office/drawing/2014/main" id="{9401D45A-8815-A5A5-038C-509EA6BC4737}"/>
              </a:ext>
            </a:extLst>
          </p:cNvPr>
          <p:cNvSpPr txBox="1"/>
          <p:nvPr/>
        </p:nvSpPr>
        <p:spPr>
          <a:xfrm>
            <a:off x="558672" y="2334408"/>
            <a:ext cx="11178753" cy="2678234"/>
          </a:xfrm>
          <a:prstGeom prst="rect">
            <a:avLst/>
          </a:prstGeom>
          <a:noFill/>
        </p:spPr>
        <p:txBody>
          <a:bodyPr wrap="square" rtlCol="0">
            <a:spAutoFit/>
          </a:bodyPr>
          <a:lstStyle/>
          <a:p>
            <a:pPr>
              <a:buNone/>
            </a:pPr>
            <a:r>
              <a:rPr lang="en-US" dirty="0"/>
              <a:t>The Fake News Detection project effectively applies machine learning techniques to identify misinformation with high accuracy. By combining multiple models—Passive Aggressive, Random Forest, Gradient Boosting, and Decision Tree—through a majority voting approach, the system achieves around 99% accuracy in classifying news as real or fake.</a:t>
            </a:r>
          </a:p>
          <a:p>
            <a:r>
              <a:rPr lang="en-US" dirty="0"/>
              <a:t>The solution supports real-time predictions and can be integrated into digital platforms to automate fact-checking and reduce the spread of fake news. This project demonstrates the potential of AI-driven solutions in combating misinformation and sets the stage for future enhancements like multilingual and multimedia support.</a:t>
            </a:r>
          </a:p>
          <a:p>
            <a:endParaRPr lang="en-IN" dirty="0"/>
          </a:p>
        </p:txBody>
      </p:sp>
    </p:spTree>
    <p:extLst>
      <p:ext uri="{BB962C8B-B14F-4D97-AF65-F5344CB8AC3E}">
        <p14:creationId xmlns:p14="http://schemas.microsoft.com/office/powerpoint/2010/main" val="173038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EAFC-3A57-AD7E-8CB9-F8A9F0B4D8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EABD15-8138-43E4-DD67-E9ECE24A5AEE}"/>
              </a:ext>
            </a:extLst>
          </p:cNvPr>
          <p:cNvSpPr>
            <a:spLocks noGrp="1"/>
          </p:cNvSpPr>
          <p:nvPr>
            <p:ph type="title"/>
          </p:nvPr>
        </p:nvSpPr>
        <p:spPr/>
        <p:txBody>
          <a:bodyPr/>
          <a:lstStyle/>
          <a:p>
            <a:r>
              <a:rPr lang="en-IN" sz="3200" dirty="0">
                <a:solidFill>
                  <a:srgbClr val="002060"/>
                </a:solidFill>
              </a:rPr>
              <a:t>Future Perspective</a:t>
            </a:r>
          </a:p>
        </p:txBody>
      </p:sp>
      <p:sp>
        <p:nvSpPr>
          <p:cNvPr id="3" name="Rectangle 1">
            <a:extLst>
              <a:ext uri="{FF2B5EF4-FFF2-40B4-BE49-F238E27FC236}">
                <a16:creationId xmlns:a16="http://schemas.microsoft.com/office/drawing/2014/main" id="{9985C5D5-DB76-D0B8-0102-A2F3022CB5AA}"/>
              </a:ext>
            </a:extLst>
          </p:cNvPr>
          <p:cNvSpPr>
            <a:spLocks noChangeArrowheads="1"/>
          </p:cNvSpPr>
          <p:nvPr/>
        </p:nvSpPr>
        <p:spPr bwMode="auto">
          <a:xfrm>
            <a:off x="545052" y="1269402"/>
            <a:ext cx="11470406" cy="6541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sz="1800" b="1" dirty="0"/>
              <a:t> Multilingual Support</a:t>
            </a:r>
          </a:p>
          <a:p>
            <a:pPr marL="342900" indent="-342900">
              <a:buFont typeface="+mj-lt"/>
              <a:buAutoNum type="arabicPeriod"/>
            </a:pPr>
            <a:endParaRPr lang="en-US" sz="1800" dirty="0"/>
          </a:p>
          <a:p>
            <a:pPr marL="285750" indent="-285750">
              <a:buFont typeface="Arial" panose="020B0604020202020204" pitchFamily="34" charset="0"/>
              <a:buChar char="•"/>
            </a:pPr>
            <a:r>
              <a:rPr lang="en-US" sz="1800" dirty="0"/>
              <a:t>The system is currently optimized for English news content. In the future, integrating multilingual support would allow the detection system to handle news from different regions and languages, broadening its global applicability.</a:t>
            </a:r>
          </a:p>
          <a:p>
            <a:pPr>
              <a:buFont typeface="Arial" panose="020B0604020202020204" pitchFamily="34" charset="0"/>
              <a:buChar char="•"/>
            </a:pPr>
            <a:endParaRPr lang="en-US" sz="1800" dirty="0"/>
          </a:p>
          <a:p>
            <a:pPr marL="342900" indent="-342900">
              <a:buFont typeface="+mj-lt"/>
              <a:buAutoNum type="arabicPeriod" startAt="2"/>
            </a:pPr>
            <a:r>
              <a:rPr lang="en-US" sz="1800" b="1" dirty="0"/>
              <a:t>Advanced Deep Learning Models</a:t>
            </a:r>
          </a:p>
          <a:p>
            <a:pPr marL="342900" indent="-342900">
              <a:buFont typeface="+mj-lt"/>
              <a:buAutoNum type="arabicPeriod" startAt="2"/>
            </a:pPr>
            <a:endParaRPr lang="en-US" sz="1800" dirty="0"/>
          </a:p>
          <a:p>
            <a:pPr marL="285750" indent="-285750">
              <a:buFont typeface="Arial" panose="020B0604020202020204" pitchFamily="34" charset="0"/>
              <a:buChar char="•"/>
            </a:pPr>
            <a:r>
              <a:rPr lang="en-US" sz="1800" dirty="0"/>
              <a:t>To improve the model’s ability to understand context and semantics, the use of deep learning techniques such as </a:t>
            </a:r>
            <a:r>
              <a:rPr lang="en-US" sz="1800" b="1" dirty="0"/>
              <a:t>BERT</a:t>
            </a:r>
            <a:r>
              <a:rPr lang="en-US" sz="1800" dirty="0"/>
              <a:t> and </a:t>
            </a:r>
            <a:r>
              <a:rPr lang="en-US" sz="1800" b="1" dirty="0"/>
              <a:t>GPT</a:t>
            </a:r>
            <a:r>
              <a:rPr lang="en-US" sz="1800" dirty="0"/>
              <a:t> could be explored. These models are capable of grasping nuanced language patterns and offering more accurate predictions, especially for complex or ambiguous news content.</a:t>
            </a:r>
          </a:p>
          <a:p>
            <a:pPr>
              <a:buFont typeface="Arial" panose="020B0604020202020204" pitchFamily="34" charset="0"/>
              <a:buChar char="•"/>
            </a:pPr>
            <a:endParaRPr lang="en-US" sz="1800" dirty="0"/>
          </a:p>
          <a:p>
            <a:pPr marL="342900" indent="-342900">
              <a:buFont typeface="+mj-lt"/>
              <a:buAutoNum type="arabicPeriod" startAt="3"/>
            </a:pPr>
            <a:r>
              <a:rPr lang="en-US" sz="1800" b="1" dirty="0"/>
              <a:t>Real-World Expansion</a:t>
            </a:r>
          </a:p>
          <a:p>
            <a:endParaRPr lang="en-US" sz="1800" dirty="0"/>
          </a:p>
          <a:p>
            <a:pPr marL="285750" indent="-285750">
              <a:buFont typeface="Arial" panose="020B0604020202020204" pitchFamily="34" charset="0"/>
              <a:buChar char="•"/>
            </a:pPr>
            <a:r>
              <a:rPr lang="en-US" sz="1800" b="1" dirty="0"/>
              <a:t>Browser Plugin / Mobile App</a:t>
            </a:r>
            <a:r>
              <a:rPr lang="en-US" sz="1800" dirty="0"/>
              <a:t>: Developing a browser extension or mobile app could provide users with real-time fake news detection while browsing.</a:t>
            </a:r>
          </a:p>
          <a:p>
            <a:pPr marL="285750" indent="-285750">
              <a:buFont typeface="Arial" panose="020B0604020202020204" pitchFamily="34" charset="0"/>
              <a:buChar char="•"/>
            </a:pPr>
            <a:r>
              <a:rPr lang="en-US" sz="1800" b="1" dirty="0"/>
              <a:t>API Integration</a:t>
            </a:r>
            <a:r>
              <a:rPr lang="en-US" sz="1800" dirty="0"/>
              <a:t>: An API could be built to allow news websites, social media platforms, and other digital services to seamlessly integrate the system into their existing workflows, enabling automated content validation at scale.</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3696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371653C-5A59-55AF-7592-1B7D2CA0BEA9}"/>
              </a:ext>
            </a:extLst>
          </p:cNvPr>
          <p:cNvSpPr txBox="1"/>
          <p:nvPr/>
        </p:nvSpPr>
        <p:spPr>
          <a:xfrm>
            <a:off x="4222226" y="2924100"/>
            <a:ext cx="3747549" cy="621937"/>
          </a:xfrm>
          <a:prstGeom prst="rect">
            <a:avLst/>
          </a:prstGeom>
        </p:spPr>
        <p:txBody>
          <a:bodyPr rot="0" spcFirstLastPara="0" vertOverflow="overflow" horzOverflow="overflow" vert="horz" lIns="121920" tIns="60960" rIns="121920" bIns="60960" numCol="1" spcCol="0" rtlCol="0" fromWordArt="0" anchor="b" anchorCtr="0" forceAA="0" compatLnSpc="1">
            <a:prstTxWarp prst="textNoShape">
              <a:avLst/>
            </a:prstTxWarp>
            <a:normAutofit/>
          </a:bodyPr>
          <a:lstStyle/>
          <a:p>
            <a:pPr algn="ctr">
              <a:lnSpc>
                <a:spcPct val="90000"/>
              </a:lnSpc>
              <a:spcBef>
                <a:spcPct val="0"/>
              </a:spcBef>
              <a:spcAft>
                <a:spcPts val="800"/>
              </a:spcAft>
            </a:pPr>
            <a:r>
              <a:rPr lang="en-US" sz="3333" kern="1200">
                <a:solidFill>
                  <a:schemeClr val="tx1"/>
                </a:solidFill>
                <a:latin typeface="Arial" panose="020B0604020202020204" pitchFamily="34" charset="0"/>
                <a:ea typeface="+mj-ea"/>
                <a:cs typeface="Arial" panose="020B0604020202020204" pitchFamily="34" charset="0"/>
              </a:rPr>
              <a:t>Thank you...!</a:t>
            </a:r>
          </a:p>
        </p:txBody>
      </p:sp>
    </p:spTree>
    <p:extLst>
      <p:ext uri="{BB962C8B-B14F-4D97-AF65-F5344CB8AC3E}">
        <p14:creationId xmlns:p14="http://schemas.microsoft.com/office/powerpoint/2010/main" val="325770188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4494</TotalTime>
  <Words>1054</Words>
  <Application>Microsoft Office PowerPoint</Application>
  <PresentationFormat>Widescreen</PresentationFormat>
  <Paragraphs>106</Paragraphs>
  <Slides>12</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Times New Roman</vt:lpstr>
      <vt:lpstr>Simple Light</vt:lpstr>
      <vt:lpstr>1_Simple Light</vt:lpstr>
      <vt:lpstr>PowerPoint Presentation</vt:lpstr>
      <vt:lpstr>Project Objectives</vt:lpstr>
      <vt:lpstr>Problem Statement</vt:lpstr>
      <vt:lpstr>Project overview - Introduction</vt:lpstr>
      <vt:lpstr>End User</vt:lpstr>
      <vt:lpstr>Wow Factor in Solution</vt:lpstr>
      <vt:lpstr>Modelling</vt:lpstr>
      <vt:lpstr>Result / Outcomes</vt:lpstr>
      <vt:lpstr>Result / Outcomes</vt:lpstr>
      <vt:lpstr>Conclusion</vt:lpstr>
      <vt:lpstr>Future Perspective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Jisan Shaikh</cp:lastModifiedBy>
  <cp:revision>1174</cp:revision>
  <dcterms:modified xsi:type="dcterms:W3CDTF">2025-05-03T05:25:35Z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